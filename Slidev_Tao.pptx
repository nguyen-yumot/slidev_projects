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C768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37F67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537F67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8728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7"/>
  </p:normalViewPr>
  <p:slideViewPr>
    <p:cSldViewPr snapToGrid="0">
      <p:cViewPr varScale="1">
        <p:scale>
          <a:sx n="72" d="100"/>
          <a:sy n="72" d="100"/>
        </p:scale>
        <p:origin x="26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08990">
              <a:spcBef>
                <a:spcPts val="0"/>
              </a:spcBef>
              <a:buSzTx/>
              <a:buNone/>
              <a:defRPr sz="3234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/>
            </a:lvl1pPr>
            <a:lvl2pPr marL="0" indent="457200" defTabSz="825500">
              <a:spcBef>
                <a:spcPts val="0"/>
              </a:spcBef>
              <a:buSzTx/>
              <a:buNone/>
              <a:defRPr sz="5500"/>
            </a:lvl2pPr>
            <a:lvl3pPr marL="0" indent="914400" defTabSz="825500">
              <a:spcBef>
                <a:spcPts val="0"/>
              </a:spcBef>
              <a:buSzTx/>
              <a:buNone/>
              <a:defRPr sz="5500"/>
            </a:lvl3pPr>
            <a:lvl4pPr marL="0" indent="1371600" defTabSz="825500">
              <a:spcBef>
                <a:spcPts val="0"/>
              </a:spcBef>
              <a:buSzTx/>
              <a:buNone/>
              <a:defRPr sz="5500"/>
            </a:lvl4pPr>
            <a:lvl5pPr marL="0" indent="1828800" defTabSz="825500">
              <a:spcBef>
                <a:spcPts val="0"/>
              </a:spcBef>
              <a:buSzTx/>
              <a:buNone/>
              <a:defRPr sz="5500"/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>
                <a:solidFill>
                  <a:srgbClr val="FFFFFF"/>
                </a:soli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几何灰色石头建筑"/>
          <p:cNvSpPr>
            <a:spLocks noGrp="1"/>
          </p:cNvSpPr>
          <p:nvPr>
            <p:ph type="pic" idx="21"/>
          </p:nvPr>
        </p:nvSpPr>
        <p:spPr>
          <a:xfrm>
            <a:off x="0" y="-4381500"/>
            <a:ext cx="24384001" cy="1828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作者和日期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08990">
              <a:spcBef>
                <a:spcPts val="0"/>
              </a:spcBef>
              <a:buSzTx/>
              <a:buNone/>
              <a:defRPr sz="3234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作者和日期</a:t>
            </a:r>
          </a:p>
        </p:txBody>
      </p:sp>
      <p:sp>
        <p:nvSpPr>
          <p:cNvPr id="2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/>
            </a:lvl1pPr>
            <a:lvl2pPr marL="0" indent="457200" defTabSz="825500">
              <a:spcBef>
                <a:spcPts val="0"/>
              </a:spcBef>
              <a:buSzTx/>
              <a:buNone/>
              <a:defRPr sz="5500"/>
            </a:lvl2pPr>
            <a:lvl3pPr marL="0" indent="914400" defTabSz="825500">
              <a:spcBef>
                <a:spcPts val="0"/>
              </a:spcBef>
              <a:buSzTx/>
              <a:buNone/>
              <a:defRPr sz="5500"/>
            </a:lvl3pPr>
            <a:lvl4pPr marL="0" indent="1371600" defTabSz="825500">
              <a:spcBef>
                <a:spcPts val="0"/>
              </a:spcBef>
              <a:buSzTx/>
              <a:buNone/>
              <a:defRPr sz="5500"/>
            </a:lvl4pPr>
            <a:lvl5pPr marL="0" indent="1828800" defTabSz="825500">
              <a:spcBef>
                <a:spcPts val="0"/>
              </a:spcBef>
              <a:buSzTx/>
              <a:buNone/>
              <a:defRPr sz="5500"/>
            </a:lvl5pPr>
          </a:lstStyle>
          <a:p>
            <a:r>
              <a:t>演示文稿副标题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>
                <a:solidFill>
                  <a:srgbClr val="FFFFFF"/>
                </a:soli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2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几何灰色石头建筑"/>
          <p:cNvSpPr>
            <a:spLocks noGrp="1"/>
          </p:cNvSpPr>
          <p:nvPr>
            <p:ph type="pic" idx="21"/>
          </p:nvPr>
        </p:nvSpPr>
        <p:spPr>
          <a:xfrm>
            <a:off x="5707496" y="-660400"/>
            <a:ext cx="20053301" cy="150420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/>
            </a:lvl1pPr>
            <a:lvl2pPr marL="0" indent="457200" defTabSz="825500">
              <a:spcBef>
                <a:spcPts val="0"/>
              </a:spcBef>
              <a:buSzTx/>
              <a:buNone/>
              <a:defRPr sz="5500"/>
            </a:lvl2pPr>
            <a:lvl3pPr marL="0" indent="914400" defTabSz="825500">
              <a:spcBef>
                <a:spcPts val="0"/>
              </a:spcBef>
              <a:buSzTx/>
              <a:buNone/>
              <a:defRPr sz="5500"/>
            </a:lvl3pPr>
            <a:lvl4pPr marL="0" indent="1371600" defTabSz="825500">
              <a:spcBef>
                <a:spcPts val="0"/>
              </a:spcBef>
              <a:buSzTx/>
              <a:buNone/>
              <a:defRPr sz="5500"/>
            </a:lvl4pPr>
            <a:lvl5pPr marL="0" indent="1828800" defTabSz="825500">
              <a:spcBef>
                <a:spcPts val="0"/>
              </a:spcBef>
              <a:buSzTx/>
              <a:buNone/>
              <a:defRPr sz="5500"/>
            </a:lvl5pPr>
          </a:lstStyle>
          <a:p>
            <a:r>
              <a:t>幻灯片副标题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/>
            </a:lvl1pPr>
          </a:lstStyle>
          <a:p>
            <a:r>
              <a:t>幻灯片副标题</a:t>
            </a:r>
          </a:p>
        </p:txBody>
      </p:sp>
      <p:sp>
        <p:nvSpPr>
          <p:cNvPr id="61" name="光影下棱角分明的石头建筑"/>
          <p:cNvSpPr>
            <a:spLocks noGrp="1"/>
          </p:cNvSpPr>
          <p:nvPr>
            <p:ph type="pic" idx="22"/>
          </p:nvPr>
        </p:nvSpPr>
        <p:spPr>
          <a:xfrm>
            <a:off x="12382500" y="0"/>
            <a:ext cx="219456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558500" y="12468859"/>
            <a:ext cx="379476" cy="41910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/>
            </a:lvl1pPr>
          </a:lstStyle>
          <a:p>
            <a:r>
              <a:t>幻灯片副标题</a:t>
            </a:r>
          </a:p>
        </p:txBody>
      </p:sp>
      <p:sp>
        <p:nvSpPr>
          <p:cNvPr id="72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/>
            </a:lvl1pPr>
          </a:lstStyle>
          <a:p>
            <a:r>
              <a:t>幻灯片副标题</a:t>
            </a:r>
          </a:p>
        </p:txBody>
      </p:sp>
      <p:sp>
        <p:nvSpPr>
          <p:cNvPr id="8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z="12000" spc="-119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r>
              <a:t>章节标题</a:t>
            </a:r>
          </a:p>
        </p:txBody>
      </p:sp>
      <p:sp>
        <p:nvSpPr>
          <p:cNvPr id="9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100" name="幻灯片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/>
            </a:lvl1pPr>
          </a:lstStyle>
          <a:p>
            <a:r>
              <a:t>幻灯片副标题</a:t>
            </a:r>
          </a:p>
        </p:txBody>
      </p:sp>
      <p:sp>
        <p:nvSpPr>
          <p:cNvPr id="10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副标题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/>
            </a:lvl1pPr>
          </a:lstStyle>
          <a:p>
            <a:r>
              <a:t>议程副标题</a:t>
            </a:r>
          </a:p>
        </p:txBody>
      </p:sp>
      <p:sp>
        <p:nvSpPr>
          <p:cNvPr id="109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0" indent="457200" defTabSz="825500">
              <a:spcBef>
                <a:spcPts val="6000"/>
              </a:spcBef>
              <a:buSzTx/>
              <a:buNone/>
              <a:defRPr sz="5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0" indent="914400" defTabSz="825500">
              <a:spcBef>
                <a:spcPts val="6000"/>
              </a:spcBef>
              <a:buSzTx/>
              <a:buNone/>
              <a:defRPr sz="5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0" indent="1371600" defTabSz="825500">
              <a:spcBef>
                <a:spcPts val="6000"/>
              </a:spcBef>
              <a:buSzTx/>
              <a:buNone/>
              <a:defRPr sz="5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0" indent="1828800" defTabSz="825500">
              <a:spcBef>
                <a:spcPts val="6000"/>
              </a:spcBef>
              <a:buSzTx/>
              <a:buNone/>
              <a:defRPr sz="5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</a:lstStyle>
          <a:p>
            <a:r>
              <a:t>议程主题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议程标题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11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r>
              <a:t>说明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事实信息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</a:lstStyle>
          <a:p>
            <a:r>
              <a:t>事实信息</a:t>
            </a:r>
          </a:p>
        </p:txBody>
      </p:sp>
      <p:sp>
        <p:nvSpPr>
          <p:cNvPr id="12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solidFill>
                  <a:srgbClr val="FFFFFF"/>
                </a:solidFill>
                <a:latin typeface="Produkt Extralight"/>
                <a:ea typeface="Produkt Extralight"/>
                <a:cs typeface="Produkt Extralight"/>
                <a:sym typeface="Produkt Extralight"/>
              </a:defRPr>
            </a:lvl5pPr>
          </a:lstStyle>
          <a:p>
            <a:r>
              <a:t>“著名引文”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" name="出自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spcBef>
                <a:spcPts val="0"/>
              </a:spcBef>
              <a:buSzTx/>
              <a:buNone/>
              <a:defRPr sz="3420">
                <a:solidFill>
                  <a:srgbClr val="FFFFFF"/>
                </a:solidFill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出自</a:t>
            </a:r>
          </a:p>
        </p:txBody>
      </p:sp>
      <p:sp>
        <p:nvSpPr>
          <p:cNvPr id="13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蓝天下粉色与橙色呈波纹状的建筑"/>
          <p:cNvSpPr>
            <a:spLocks noGrp="1"/>
          </p:cNvSpPr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湛蓝天空下现代建筑一角的低角度视图"/>
          <p:cNvSpPr>
            <a:spLocks noGrp="1"/>
          </p:cNvSpPr>
          <p:nvPr>
            <p:ph type="pic" sz="quarter" idx="22"/>
          </p:nvPr>
        </p:nvSpPr>
        <p:spPr>
          <a:xfrm>
            <a:off x="146177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局部多云的天空下石桥的低角度视图"/>
          <p:cNvSpPr>
            <a:spLocks noGrp="1"/>
          </p:cNvSpPr>
          <p:nvPr>
            <p:ph type="pic" sz="quarter" idx="23"/>
          </p:nvPr>
        </p:nvSpPr>
        <p:spPr>
          <a:xfrm>
            <a:off x="61386" y="3632200"/>
            <a:ext cx="9690101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现代金属建筑的低角度视图"/>
          <p:cNvSpPr>
            <a:spLocks noGrp="1"/>
          </p:cNvSpPr>
          <p:nvPr>
            <p:ph type="pic" idx="21"/>
          </p:nvPr>
        </p:nvSpPr>
        <p:spPr>
          <a:xfrm>
            <a:off x="-38100" y="-1295400"/>
            <a:ext cx="24447500" cy="162955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558500" y="12468859"/>
            <a:ext cx="379476" cy="419101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60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558500" y="12443459"/>
            <a:ext cx="408940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spcBef>
                <a:spcPts val="0"/>
              </a:spcBef>
              <a:defRPr sz="20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ao Zixian (24-9001-501-10)…"/>
          <p:cNvSpPr txBox="1">
            <a:spLocks noGrp="1"/>
          </p:cNvSpPr>
          <p:nvPr>
            <p:ph type="body" idx="21"/>
          </p:nvPr>
        </p:nvSpPr>
        <p:spPr>
          <a:xfrm>
            <a:off x="1206500" y="7451938"/>
            <a:ext cx="21971000" cy="419207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pPr marL="0" lvl="1" indent="0" defTabSz="825500">
              <a:spcBef>
                <a:spcPts val="0"/>
              </a:spcBef>
              <a:buSzTx/>
              <a:buNone/>
              <a:defRPr sz="5500"/>
            </a:pPr>
            <a:r>
              <a:t>Tao Zixian (24-9001-501-10)</a:t>
            </a:r>
            <a:endParaRPr sz="4500"/>
          </a:p>
          <a:p>
            <a:pPr marL="0" lvl="1" indent="0" defTabSz="825500">
              <a:spcBef>
                <a:spcPts val="0"/>
              </a:spcBef>
              <a:buSzTx/>
              <a:buNone/>
              <a:defRPr sz="5500"/>
            </a:pPr>
            <a:r>
              <a:t>Supervisor: Professor Nguyen Phuc Huu</a:t>
            </a:r>
            <a:endParaRPr sz="4500"/>
          </a:p>
          <a:p>
            <a:pPr marL="0" lvl="1" indent="0" algn="r" defTabSz="825500">
              <a:spcBef>
                <a:spcPts val="0"/>
              </a:spcBef>
              <a:buSzTx/>
              <a:buNone/>
              <a:defRPr sz="5500"/>
            </a:pPr>
            <a:r>
              <a:t>2026/5/31</a:t>
            </a:r>
          </a:p>
        </p:txBody>
      </p:sp>
      <p:sp>
        <p:nvSpPr>
          <p:cNvPr id="172" name="From Classic to Agentic DSS:…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defTabSz="320039">
              <a:defRPr sz="10800" spc="-107">
                <a:solidFill>
                  <a:srgbClr val="000000"/>
                </a:solidFill>
              </a:defRPr>
            </a:pPr>
            <a:r>
              <a:t>From Classic to Agentic DSS:</a:t>
            </a:r>
          </a:p>
          <a:p>
            <a:pPr defTabSz="320039">
              <a:defRPr sz="10800" spc="-107">
                <a:solidFill>
                  <a:srgbClr val="000000"/>
                </a:solidFill>
              </a:defRPr>
            </a:pPr>
            <a:r>
              <a:t>A Conceptual Model for Autonomous Decision-Making in Logistics</a:t>
            </a:r>
          </a:p>
        </p:txBody>
      </p:sp>
      <p:grpSp>
        <p:nvGrpSpPr>
          <p:cNvPr id="175" name="成组"/>
          <p:cNvGrpSpPr/>
          <p:nvPr/>
        </p:nvGrpSpPr>
        <p:grpSpPr>
          <a:xfrm>
            <a:off x="182609" y="11826029"/>
            <a:ext cx="24018782" cy="371015"/>
            <a:chOff x="0" y="0"/>
            <a:chExt cx="24018780" cy="371014"/>
          </a:xfrm>
        </p:grpSpPr>
        <p:sp>
          <p:nvSpPr>
            <p:cNvPr id="173" name="矩形"/>
            <p:cNvSpPr/>
            <p:nvPr/>
          </p:nvSpPr>
          <p:spPr>
            <a:xfrm>
              <a:off x="2481" y="0"/>
              <a:ext cx="24013818" cy="196418"/>
            </a:xfrm>
            <a:prstGeom prst="rect">
              <a:avLst/>
            </a:prstGeom>
            <a:solidFill>
              <a:srgbClr val="246DE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chemeClr val="accent1">
                      <a:satOff val="5092"/>
                      <a:lumOff val="-28652"/>
                    </a:schemeClr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endParaRPr/>
            </a:p>
          </p:txBody>
        </p:sp>
        <p:sp>
          <p:nvSpPr>
            <p:cNvPr id="174" name="矩形"/>
            <p:cNvSpPr/>
            <p:nvPr/>
          </p:nvSpPr>
          <p:spPr>
            <a:xfrm>
              <a:off x="0" y="276797"/>
              <a:ext cx="24018781" cy="94218"/>
            </a:xfrm>
            <a:prstGeom prst="rect">
              <a:avLst/>
            </a:prstGeom>
            <a:solidFill>
              <a:srgbClr val="246DE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chemeClr val="accent1">
                      <a:satOff val="5092"/>
                      <a:lumOff val="-28652"/>
                    </a:schemeClr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endParaRPr/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sponse to Com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Response to Comments</a:t>
            </a:r>
          </a:p>
        </p:txBody>
      </p:sp>
      <p:sp>
        <p:nvSpPr>
          <p:cNvPr id="179" name="The range is too broad?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range is too broad?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search Objectiv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Research Objectives</a:t>
            </a:r>
          </a:p>
        </p:txBody>
      </p:sp>
      <p:sp>
        <p:nvSpPr>
          <p:cNvPr id="183" name="Understand the role evolu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98500" indent="-698500">
              <a:buAutoNum type="arabicPeriod"/>
            </a:pPr>
            <a:r>
              <a:t>Understand the role evolution</a:t>
            </a:r>
          </a:p>
          <a:p>
            <a:pPr marL="698500" indent="-698500">
              <a:buAutoNum type="arabicPeriod"/>
            </a:pPr>
            <a:r>
              <a:t>Design conceptual architecture</a:t>
            </a:r>
          </a:p>
          <a:p>
            <a:pPr marL="698500" indent="-698500">
              <a:buAutoNum type="arabicPeriod"/>
            </a:pPr>
            <a:r>
              <a:t>Develop a conceptual Framework for Agentic DSS in SME’s Logistics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search Schedu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Research Schedule</a:t>
            </a:r>
          </a:p>
        </p:txBody>
      </p:sp>
      <p:graphicFrame>
        <p:nvGraphicFramePr>
          <p:cNvPr id="186" name="表格 1"/>
          <p:cNvGraphicFramePr/>
          <p:nvPr/>
        </p:nvGraphicFramePr>
        <p:xfrm>
          <a:off x="1030634" y="2287268"/>
          <a:ext cx="22335432" cy="10164425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924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63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922884">
                <a:tc rowSpan="2"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Research Items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97492"/>
                        <a:satOff val="-3125"/>
                        <a:lumOff val="27021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2024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97492"/>
                        <a:satOff val="-3125"/>
                        <a:lumOff val="27021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32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2025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97492"/>
                        <a:satOff val="-3125"/>
                        <a:lumOff val="27021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884">
                <a:tc v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Oct.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Nov.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Dec.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Jan.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Feb.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Mar.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Apr.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May.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Jun.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July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800">
                          <a:latin typeface="PingFang SC Regular"/>
                          <a:ea typeface="PingFang SC Regular"/>
                          <a:cs typeface="PingFang SC Regular"/>
                          <a:sym typeface="PingFang SC Regular"/>
                        </a:rPr>
                        <a:t>Aug.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1">
                        <a:hueOff val="33700"/>
                        <a:satOff val="12608"/>
                        <a:lumOff val="15533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Research Proposal Development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Research Presentation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Literature Review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Conceptual Modeling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Prototype Development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Interim Presentation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Thesis Completion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Final Defense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2288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latin typeface="PingFang SC Medium"/>
                          <a:ea typeface="PingFang SC Medium"/>
                          <a:cs typeface="PingFang SC Medium"/>
                          <a:sym typeface="PingFang SC Medium"/>
                        </a:rPr>
                        <a:t>Final Correction and Submission</a:t>
                      </a:r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>
                        <a:defRPr sz="3200">
                          <a:latin typeface="Avenir Next Regular"/>
                          <a:ea typeface="Avenir Next Regular"/>
                          <a:cs typeface="Avenir Next Regular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chemeClr val="accent4">
                        <a:hueOff val="-737021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Limitations of Traditional DS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Limitations of Traditional DSS</a:t>
            </a:r>
          </a:p>
        </p:txBody>
      </p:sp>
      <p:sp>
        <p:nvSpPr>
          <p:cNvPr id="190" name="DSS: Information systems designed to support organizational decision-making, particularly for semi-structured and unstructured problem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DSS: Information systems designed to support organizational decision-making, particularly for semi-structured and unstructured problems.</a:t>
            </a:r>
          </a:p>
          <a:p>
            <a:r>
              <a:t>The limits of traditional DSS:</a:t>
            </a:r>
          </a:p>
          <a:p>
            <a:pPr marL="1397000" lvl="1" indent="-698500">
              <a:buAutoNum type="arabicParenBoth"/>
            </a:pPr>
            <a:r>
              <a:t>Passive Operation</a:t>
            </a:r>
          </a:p>
          <a:p>
            <a:pPr marL="1397000" lvl="1" indent="-698500">
              <a:buAutoNum type="arabicParenBoth"/>
            </a:pPr>
            <a:r>
              <a:t>Static Logic</a:t>
            </a:r>
          </a:p>
          <a:p>
            <a:pPr marL="1397000" lvl="1" indent="-698500">
              <a:buAutoNum type="arabicParenBoth"/>
            </a:pPr>
            <a:r>
              <a:t>Limited Reasoning Ability</a:t>
            </a:r>
          </a:p>
          <a:p>
            <a:pPr marL="1397000" lvl="1" indent="-698500">
              <a:buAutoNum type="arabicParenBoth"/>
            </a:pPr>
            <a:r>
              <a:t>Isolated Structure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What are AI Agent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are AI Agents?</a:t>
            </a:r>
          </a:p>
        </p:txBody>
      </p:sp>
      <p:sp>
        <p:nvSpPr>
          <p:cNvPr id="194" name="Agentic AI refers to AI systems capable of autonomous reasoning, planning, memory management, and tool integration.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Agentic AI refers to AI systems capable of </a:t>
            </a:r>
            <a:r>
              <a:rPr b="1"/>
              <a:t>autonomous reasoning, planning, memory management, and tool integration</a:t>
            </a:r>
            <a:r>
              <a:t>.</a:t>
            </a:r>
          </a:p>
        </p:txBody>
      </p:sp>
      <p:pic>
        <p:nvPicPr>
          <p:cNvPr id="195" name="4（2）.png" descr="4（2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244" y="5720673"/>
            <a:ext cx="19761201" cy="6045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ool-Use Lo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Tool-Use Loop</a:t>
            </a:r>
          </a:p>
        </p:txBody>
      </p:sp>
      <p:sp>
        <p:nvSpPr>
          <p:cNvPr id="199" name="Tool：Executable function or external capability that the AI agent can request a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Tool：Executable function or external capability that the AI agent can request as. </a:t>
            </a:r>
          </a:p>
          <a:p>
            <a:r>
              <a:t>Example:</a:t>
            </a:r>
          </a:p>
          <a:p>
            <a:pPr marL="1397000" lvl="1" indent="-698500">
              <a:buAutoNum type="arabicParenBoth"/>
            </a:pPr>
            <a:r>
              <a:t>Database </a:t>
            </a:r>
          </a:p>
          <a:p>
            <a:pPr marL="1397000" lvl="1" indent="-698500">
              <a:buAutoNum type="arabicParenBoth"/>
            </a:pPr>
            <a:r>
              <a:t>ERP system access</a:t>
            </a:r>
          </a:p>
          <a:p>
            <a:pPr marL="1397000" lvl="1" indent="-698500">
              <a:buAutoNum type="arabicParenBoth"/>
            </a:pPr>
            <a:r>
              <a:t>Web search</a:t>
            </a:r>
          </a:p>
          <a:p>
            <a:pPr marL="1397000" lvl="1" indent="-698500">
              <a:buAutoNum type="arabicParenBoth"/>
            </a:pPr>
            <a:r>
              <a:t>Weather APIs</a:t>
            </a:r>
          </a:p>
          <a:p>
            <a:pPr marL="1397000" lvl="1" indent="-698500">
              <a:buAutoNum type="arabicParenBoth"/>
            </a:pPr>
            <a:r>
              <a:t>…</a:t>
            </a:r>
          </a:p>
        </p:txBody>
      </p:sp>
      <p:pic>
        <p:nvPicPr>
          <p:cNvPr id="200" name="1.png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776" y="6051916"/>
            <a:ext cx="11461055" cy="1956472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Every agent is the same loop: LLM → tool call → feedback → LLM → … until it finds the final answer."/>
          <p:cNvSpPr txBox="1"/>
          <p:nvPr/>
        </p:nvSpPr>
        <p:spPr>
          <a:xfrm>
            <a:off x="11859540" y="8648604"/>
            <a:ext cx="11237528" cy="2294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Every agent is the same loop: LLM </a:t>
            </a:r>
            <a:r>
              <a:rPr b="1">
                <a:latin typeface="Lucida Grande"/>
                <a:ea typeface="Lucida Grande"/>
                <a:cs typeface="Lucida Grande"/>
                <a:sym typeface="Lucida Grande"/>
              </a:rPr>
              <a:t>→</a:t>
            </a:r>
            <a:r>
              <a:t> tool call </a:t>
            </a:r>
            <a:r>
              <a:rPr b="1">
                <a:latin typeface="Lucida Grande"/>
                <a:ea typeface="Lucida Grande"/>
                <a:cs typeface="Lucida Grande"/>
                <a:sym typeface="Lucida Grande"/>
              </a:rPr>
              <a:t>→</a:t>
            </a:r>
            <a:r>
              <a:t> feedback </a:t>
            </a:r>
            <a:r>
              <a:rPr b="1">
                <a:latin typeface="Lucida Grande"/>
                <a:ea typeface="Lucida Grande"/>
                <a:cs typeface="Lucida Grande"/>
                <a:sym typeface="Lucida Grande"/>
              </a:rPr>
              <a:t>→</a:t>
            </a:r>
            <a:r>
              <a:t> LLM </a:t>
            </a:r>
            <a:r>
              <a:rPr b="1">
                <a:latin typeface="Lucida Grande"/>
                <a:ea typeface="Lucida Grande"/>
                <a:cs typeface="Lucida Grande"/>
                <a:sym typeface="Lucida Grande"/>
              </a:rPr>
              <a:t>→</a:t>
            </a:r>
            <a:r>
              <a:t> … until it finds the final answer.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ool-Use Loo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Tool-Use Loop</a:t>
            </a:r>
          </a:p>
        </p:txBody>
      </p:sp>
      <p:sp>
        <p:nvSpPr>
          <p:cNvPr id="205" name="Tool：Executable function or external capability that the AI agent can request as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Tool：Executable function or external capability that the AI agent can request as. </a:t>
            </a:r>
          </a:p>
          <a:p>
            <a:r>
              <a:t>Example:</a:t>
            </a:r>
          </a:p>
          <a:p>
            <a:pPr marL="1397000" lvl="1" indent="-698500">
              <a:buAutoNum type="arabicParenBoth"/>
            </a:pPr>
            <a:r>
              <a:t>Database </a:t>
            </a:r>
          </a:p>
          <a:p>
            <a:pPr marL="1397000" lvl="1" indent="-698500">
              <a:buAutoNum type="arabicParenBoth"/>
            </a:pPr>
            <a:r>
              <a:t>ERP system access</a:t>
            </a:r>
          </a:p>
          <a:p>
            <a:pPr marL="1397000" lvl="1" indent="-698500">
              <a:buAutoNum type="arabicParenBoth"/>
            </a:pPr>
            <a:r>
              <a:t>Web search</a:t>
            </a:r>
          </a:p>
          <a:p>
            <a:pPr marL="1397000" lvl="1" indent="-698500">
              <a:buAutoNum type="arabicParenBoth"/>
            </a:pPr>
            <a:r>
              <a:t>Weather APIs</a:t>
            </a:r>
          </a:p>
          <a:p>
            <a:pPr marL="1397000" lvl="1" indent="-698500">
              <a:buAutoNum type="arabicParenBoth"/>
            </a:pPr>
            <a:r>
              <a:t>…</a:t>
            </a:r>
          </a:p>
        </p:txBody>
      </p:sp>
      <p:pic>
        <p:nvPicPr>
          <p:cNvPr id="206" name="05-accumulation.png" descr="05-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633" y="5247710"/>
            <a:ext cx="13001106" cy="71166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untime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Runtime Architecture</a:t>
            </a:r>
          </a:p>
        </p:txBody>
      </p:sp>
      <p:sp>
        <p:nvSpPr>
          <p:cNvPr id="210" name="Runtime: the program around the LLM (python script, CLI, web server that sends prompts…). The LLM is a function inside the Runtime.…"/>
          <p:cNvSpPr txBox="1">
            <a:spLocks noGrp="1"/>
          </p:cNvSpPr>
          <p:nvPr>
            <p:ph type="body" sz="half" idx="1"/>
          </p:nvPr>
        </p:nvSpPr>
        <p:spPr>
          <a:xfrm>
            <a:off x="1206500" y="4260642"/>
            <a:ext cx="10102230" cy="8256012"/>
          </a:xfrm>
          <a:prstGeom prst="rect">
            <a:avLst/>
          </a:prstGeom>
        </p:spPr>
        <p:txBody>
          <a:bodyPr/>
          <a:lstStyle/>
          <a:p>
            <a:r>
              <a:rPr b="1"/>
              <a:t>Runtime: </a:t>
            </a:r>
            <a:r>
              <a:t>the program around the LLM (python script, CLI, web server that sends prompts…). The LLM is a function inside the Runtime.</a:t>
            </a:r>
          </a:p>
          <a:p>
            <a:pPr marL="0" indent="0">
              <a:buSzTx/>
              <a:buNone/>
            </a:pPr>
            <a:endParaRPr/>
          </a:p>
          <a:p>
            <a:r>
              <a:t>the LLM's "tool call" is just a request. The real API / function call happens in the runtime.</a:t>
            </a:r>
          </a:p>
        </p:txBody>
      </p:sp>
      <p:pic>
        <p:nvPicPr>
          <p:cNvPr id="211" name="1(2).png" descr="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533" y="4856076"/>
            <a:ext cx="13363850" cy="70651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ontext Enginee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Context Engineering</a:t>
            </a:r>
          </a:p>
        </p:txBody>
      </p:sp>
      <p:sp>
        <p:nvSpPr>
          <p:cNvPr id="214" name="What is context?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What is context?</a:t>
            </a:r>
          </a:p>
        </p:txBody>
      </p:sp>
      <p:sp>
        <p:nvSpPr>
          <p:cNvPr id="215" name="Everything the LLM sees on a given turn:…"/>
          <p:cNvSpPr txBox="1">
            <a:spLocks noGrp="1"/>
          </p:cNvSpPr>
          <p:nvPr>
            <p:ph type="body" sz="half" idx="1"/>
          </p:nvPr>
        </p:nvSpPr>
        <p:spPr>
          <a:xfrm>
            <a:off x="1206500" y="4260642"/>
            <a:ext cx="10778610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Everything the LLM sees on a given turn:</a:t>
            </a:r>
          </a:p>
          <a:p>
            <a:pPr>
              <a:spcBef>
                <a:spcPts val="3800"/>
              </a:spcBef>
            </a:pPr>
            <a:r>
              <a:t>the system prompt and instructions</a:t>
            </a:r>
          </a:p>
          <a:p>
            <a:pPr>
              <a:spcBef>
                <a:spcPts val="3800"/>
              </a:spcBef>
            </a:pPr>
            <a:r>
              <a:t>prior messages and tool results</a:t>
            </a:r>
          </a:p>
          <a:p>
            <a:pPr>
              <a:spcBef>
                <a:spcPts val="3800"/>
              </a:spcBef>
            </a:pPr>
            <a:r>
              <a:t>documents retrieved from memory or the web</a:t>
            </a:r>
          </a:p>
          <a:p>
            <a:pPr>
              <a:spcBef>
                <a:spcPts val="3800"/>
              </a:spcBef>
            </a:pPr>
            <a:r>
              <a:t>available tool definitions</a:t>
            </a:r>
          </a:p>
          <a:p>
            <a:pPr marL="0" indent="0">
              <a:buSzTx/>
              <a:buNone/>
            </a:pPr>
            <a:r>
              <a:t>Context is the working memory of the model — everything inside the context window, nothing outside.</a:t>
            </a:r>
          </a:p>
        </p:txBody>
      </p:sp>
      <p:pic>
        <p:nvPicPr>
          <p:cNvPr id="216" name="5.png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6419" y="5313986"/>
            <a:ext cx="11703404" cy="51556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ontext Engineer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Context Engineering</a:t>
            </a:r>
          </a:p>
        </p:txBody>
      </p:sp>
      <p:sp>
        <p:nvSpPr>
          <p:cNvPr id="220" name="Context Engineering: The delicate art and science of filling the c context window with just the right information for the next step.…"/>
          <p:cNvSpPr txBox="1">
            <a:spLocks noGrp="1"/>
          </p:cNvSpPr>
          <p:nvPr>
            <p:ph type="body" sz="half" idx="1"/>
          </p:nvPr>
        </p:nvSpPr>
        <p:spPr>
          <a:xfrm>
            <a:off x="1206499" y="4260642"/>
            <a:ext cx="10778611" cy="8256012"/>
          </a:xfrm>
          <a:prstGeom prst="rect">
            <a:avLst/>
          </a:prstGeom>
        </p:spPr>
        <p:txBody>
          <a:bodyPr/>
          <a:lstStyle/>
          <a:p>
            <a:r>
              <a:rPr b="1"/>
              <a:t>Context Engineering:</a:t>
            </a:r>
            <a:r>
              <a:t> The delicate art and science of filling the c context window with just the right information for the next step.</a:t>
            </a:r>
          </a:p>
          <a:p>
            <a:r>
              <a:t>However, context window is limited due to cost and latency. It need context engineering. Using tools can get the real-time information, also enable AI agent to act based on the “right information”.</a:t>
            </a:r>
          </a:p>
        </p:txBody>
      </p:sp>
      <p:pic>
        <p:nvPicPr>
          <p:cNvPr id="221" name="5.png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6419" y="5313986"/>
            <a:ext cx="11703404" cy="51556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ingle-agent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Single-agent Architecture</a:t>
            </a:r>
          </a:p>
        </p:txBody>
      </p:sp>
      <p:sp>
        <p:nvSpPr>
          <p:cNvPr id="224" name="幻灯片副标题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However, Single-agent is not enough:…"/>
          <p:cNvSpPr txBox="1">
            <a:spLocks noGrp="1"/>
          </p:cNvSpPr>
          <p:nvPr>
            <p:ph type="body" sz="quarter" idx="1"/>
          </p:nvPr>
        </p:nvSpPr>
        <p:spPr>
          <a:xfrm>
            <a:off x="15563632" y="4260642"/>
            <a:ext cx="7613868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However, Single-agent is not enough:</a:t>
            </a:r>
          </a:p>
          <a:p>
            <a:pPr marL="457200" lvl="1"/>
            <a:r>
              <a:t>Specialization</a:t>
            </a:r>
          </a:p>
          <a:p>
            <a:pPr marL="457200" lvl="1"/>
            <a:r>
              <a:t>Coordination</a:t>
            </a:r>
          </a:p>
          <a:p>
            <a:pPr marL="457200" lvl="1"/>
            <a:r>
              <a:t>Orchestration</a:t>
            </a:r>
          </a:p>
        </p:txBody>
      </p:sp>
      <p:pic>
        <p:nvPicPr>
          <p:cNvPr id="226" name="2(2).png" descr="2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18" y="2245940"/>
            <a:ext cx="16874641" cy="103452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Multi-agent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Multi-agent Architecture</a:t>
            </a:r>
          </a:p>
        </p:txBody>
      </p:sp>
      <p:sp>
        <p:nvSpPr>
          <p:cNvPr id="230" name="Compared with single-agent systems, multi-agent systems provide:…"/>
          <p:cNvSpPr txBox="1">
            <a:spLocks noGrp="1"/>
          </p:cNvSpPr>
          <p:nvPr>
            <p:ph type="body" sz="half" idx="1"/>
          </p:nvPr>
        </p:nvSpPr>
        <p:spPr>
          <a:xfrm>
            <a:off x="1206500" y="4260642"/>
            <a:ext cx="12592174" cy="8256012"/>
          </a:xfrm>
          <a:prstGeom prst="rect">
            <a:avLst/>
          </a:prstGeom>
        </p:spPr>
        <p:txBody>
          <a:bodyPr/>
          <a:lstStyle/>
          <a:p>
            <a:pPr marL="0" indent="0" defTabSz="1975054">
              <a:spcBef>
                <a:spcPts val="3800"/>
              </a:spcBef>
              <a:buSzTx/>
              <a:buNone/>
              <a:defRPr sz="3240"/>
            </a:pPr>
            <a:r>
              <a:t>Compared with single-agent systems, multi-agent systems provide:</a:t>
            </a:r>
          </a:p>
          <a:p>
            <a:pPr marL="370331" indent="-370331" defTabSz="1975054">
              <a:spcBef>
                <a:spcPts val="3800"/>
              </a:spcBef>
              <a:defRPr sz="3240"/>
            </a:pPr>
            <a:r>
              <a:t>Better Scalability</a:t>
            </a:r>
          </a:p>
          <a:p>
            <a:pPr marL="370331" indent="-370331" defTabSz="1975054">
              <a:spcBef>
                <a:spcPts val="3800"/>
              </a:spcBef>
              <a:defRPr sz="3240"/>
            </a:pPr>
            <a:r>
              <a:t>Parallel Processing</a:t>
            </a:r>
          </a:p>
          <a:p>
            <a:pPr marL="370331" indent="-370331" defTabSz="1975054">
              <a:spcBef>
                <a:spcPts val="3800"/>
              </a:spcBef>
              <a:defRPr sz="3240"/>
            </a:pPr>
            <a:r>
              <a:t>Specialized Reasoning</a:t>
            </a:r>
          </a:p>
          <a:p>
            <a:pPr marL="370331" indent="-370331" defTabSz="1975054">
              <a:spcBef>
                <a:spcPts val="3800"/>
              </a:spcBef>
              <a:defRPr sz="3240"/>
            </a:pPr>
            <a:r>
              <a:t>Flexible Orchestration</a:t>
            </a:r>
          </a:p>
          <a:p>
            <a:pPr marL="0" indent="0" defTabSz="1975054">
              <a:spcBef>
                <a:spcPts val="3800"/>
              </a:spcBef>
              <a:buSzTx/>
              <a:buNone/>
              <a:defRPr sz="3240"/>
            </a:pPr>
            <a:r>
              <a:t>Challenge:</a:t>
            </a:r>
          </a:p>
          <a:p>
            <a:pPr marL="370331" indent="-370331" defTabSz="1975054">
              <a:spcBef>
                <a:spcPts val="3800"/>
              </a:spcBef>
              <a:defRPr sz="3240"/>
            </a:pPr>
            <a:r>
              <a:t>Context Synchronization</a:t>
            </a:r>
          </a:p>
          <a:p>
            <a:pPr marL="370331" indent="-370331" defTabSz="1975054">
              <a:spcBef>
                <a:spcPts val="3800"/>
              </a:spcBef>
              <a:defRPr sz="3240"/>
            </a:pPr>
            <a:r>
              <a:t>Coordination Overhead</a:t>
            </a:r>
          </a:p>
          <a:p>
            <a:pPr marL="370331" indent="-370331" defTabSz="1975054">
              <a:spcBef>
                <a:spcPts val="3800"/>
              </a:spcBef>
              <a:defRPr sz="3240"/>
            </a:pPr>
            <a:r>
              <a:t>Shared-state conflicts</a:t>
            </a:r>
          </a:p>
        </p:txBody>
      </p:sp>
      <p:pic>
        <p:nvPicPr>
          <p:cNvPr id="231" name="multi-agent_archi.png" descr="multi-agent_arc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236" y="1800306"/>
            <a:ext cx="9250096" cy="107511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roposed Architecture of Agentic DSS in Logistic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26287">
              <a:defRPr sz="7900" spc="-79"/>
            </a:lvl1pPr>
          </a:lstStyle>
          <a:p>
            <a:r>
              <a:t>Proposed Architecture of Agentic DSS in Logistics</a:t>
            </a:r>
          </a:p>
        </p:txBody>
      </p:sp>
      <p:sp>
        <p:nvSpPr>
          <p:cNvPr id="235" name="Three Layers:…"/>
          <p:cNvSpPr txBox="1">
            <a:spLocks noGrp="1"/>
          </p:cNvSpPr>
          <p:nvPr>
            <p:ph type="body" sz="quarter" idx="1"/>
          </p:nvPr>
        </p:nvSpPr>
        <p:spPr>
          <a:xfrm>
            <a:off x="1302689" y="4020168"/>
            <a:ext cx="6874722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Three Layers:</a:t>
            </a:r>
          </a:p>
          <a:p>
            <a:r>
              <a:t>People &amp; Application Layer</a:t>
            </a:r>
          </a:p>
          <a:p>
            <a:pPr marL="1397000" lvl="1" indent="-698500">
              <a:spcBef>
                <a:spcPts val="4000"/>
              </a:spcBef>
              <a:buAutoNum type="arabicParenBoth"/>
            </a:pPr>
            <a:r>
              <a:t>Customers</a:t>
            </a:r>
          </a:p>
          <a:p>
            <a:pPr marL="1397000" lvl="1" indent="-698500">
              <a:spcBef>
                <a:spcPts val="4000"/>
              </a:spcBef>
              <a:buAutoNum type="arabicParenBoth"/>
            </a:pPr>
            <a:r>
              <a:t>Managers</a:t>
            </a:r>
          </a:p>
          <a:p>
            <a:pPr marL="1397000" lvl="1" indent="-698500">
              <a:spcBef>
                <a:spcPts val="4000"/>
              </a:spcBef>
              <a:buAutoNum type="arabicParenBoth"/>
            </a:pPr>
            <a:r>
              <a:t>Operator Consoles</a:t>
            </a:r>
          </a:p>
          <a:p>
            <a:pPr marL="1397000" lvl="1" indent="-698500">
              <a:spcBef>
                <a:spcPts val="4000"/>
              </a:spcBef>
              <a:buAutoNum type="arabicParenBoth"/>
            </a:pPr>
            <a:r>
              <a:t>…</a:t>
            </a:r>
          </a:p>
        </p:txBody>
      </p:sp>
      <p:sp>
        <p:nvSpPr>
          <p:cNvPr id="236" name="Agent Brain Layer…"/>
          <p:cNvSpPr txBox="1"/>
          <p:nvPr/>
        </p:nvSpPr>
        <p:spPr>
          <a:xfrm>
            <a:off x="9043207" y="4020168"/>
            <a:ext cx="6874722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endParaRPr/>
          </a:p>
          <a:p>
            <a:pPr marL="457200" indent="-457200">
              <a:buSzPct val="100000"/>
              <a:buChar char="•"/>
            </a:pPr>
            <a:r>
              <a:t>Agent Brain Layer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LLMs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Memory Systems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Policies &amp; constraints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…</a:t>
            </a:r>
          </a:p>
        </p:txBody>
      </p:sp>
      <p:sp>
        <p:nvSpPr>
          <p:cNvPr id="237" name="System Layer…"/>
          <p:cNvSpPr txBox="1"/>
          <p:nvPr/>
        </p:nvSpPr>
        <p:spPr>
          <a:xfrm>
            <a:off x="16783725" y="4020168"/>
            <a:ext cx="6874722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endParaRPr/>
          </a:p>
          <a:p>
            <a:pPr marL="457200" indent="-457200">
              <a:buSzPct val="100000"/>
              <a:buChar char="•"/>
            </a:pPr>
            <a:r>
              <a:t>System Layer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WMS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TMS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ERP</a:t>
            </a:r>
          </a:p>
          <a:p>
            <a:pPr marL="1397000" lvl="1" indent="-698500">
              <a:spcBef>
                <a:spcPts val="4000"/>
              </a:spcBef>
              <a:buSzPct val="100000"/>
              <a:buAutoNum type="arabicParenBoth"/>
            </a:pPr>
            <a:r>
              <a:t>…</a:t>
            </a:r>
          </a:p>
        </p:txBody>
      </p:sp>
      <p:sp>
        <p:nvSpPr>
          <p:cNvPr id="238" name="Bridge Protocols:…"/>
          <p:cNvSpPr txBox="1"/>
          <p:nvPr/>
        </p:nvSpPr>
        <p:spPr>
          <a:xfrm>
            <a:off x="1206499" y="10633186"/>
            <a:ext cx="21971001" cy="35860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Bridge Protocols:</a:t>
            </a:r>
          </a:p>
          <a:p>
            <a:pPr marL="457200" indent="-457200">
              <a:buSzPct val="100000"/>
              <a:buChar char="•"/>
            </a:pPr>
            <a:r>
              <a:t>MCP(Model Context Protocol): tool/resource access for LLMs</a:t>
            </a:r>
          </a:p>
          <a:p>
            <a:pPr marL="457200" indent="-457200">
              <a:buSzPct val="100000"/>
              <a:buChar char="•"/>
            </a:pPr>
            <a:r>
              <a:t>A2A (Agent-to-agent): Protocol for cross-system inter-agent messaging.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Logistics Scenario: Multi-Agent Risk Decision Intelligence Hu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z="6400" spc="-64"/>
            </a:lvl1pPr>
          </a:lstStyle>
          <a:p>
            <a:r>
              <a:t>Logistics Scenario: Multi-Agent Risk Decision Intelligence Hub</a:t>
            </a:r>
          </a:p>
        </p:txBody>
      </p:sp>
      <p:sp>
        <p:nvSpPr>
          <p:cNvPr id="241" name="Background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Background</a:t>
            </a:r>
          </a:p>
        </p:txBody>
      </p:sp>
      <p:graphicFrame>
        <p:nvGraphicFramePr>
          <p:cNvPr id="242" name="表格 1"/>
          <p:cNvGraphicFramePr/>
          <p:nvPr/>
        </p:nvGraphicFramePr>
        <p:xfrm>
          <a:off x="1418792" y="4254292"/>
          <a:ext cx="21546414" cy="824331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4121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4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48662">
                <a:tc>
                  <a:txBody>
                    <a:bodyPr/>
                    <a:lstStyle/>
                    <a:p>
                      <a:pPr marL="457200" indent="-457200" defTabSz="914400">
                        <a:buSzPct val="100000"/>
                        <a:buChar char="•"/>
                        <a:defRPr sz="4000" b="1">
                          <a:sym typeface="Arial"/>
                        </a:defRPr>
                      </a:pPr>
                      <a:r>
                        <a:t>Domain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Arial"/>
                        </a:rPr>
                        <a:t>Mid-to-Large Third-Party Logistics/Freight Forwarder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marL="457200" indent="-457200" defTabSz="914400">
                        <a:buSzPct val="100000"/>
                        <a:buChar char="•"/>
                        <a:defRPr sz="4000" b="1">
                          <a:sym typeface="Arial"/>
                        </a:defRPr>
                      </a:pPr>
                      <a:r>
                        <a:t>Challenge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Arial"/>
                        </a:rPr>
                        <a:t>Thousands of active shipments, hundreds of risk events daily, complexed tasks planning.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marL="457200" indent="-457200" defTabSz="914400">
                        <a:buSzPct val="100000"/>
                        <a:buChar char="•"/>
                        <a:defRPr sz="4000" b="1">
                          <a:sym typeface="Arial"/>
                        </a:defRPr>
                      </a:pPr>
                      <a:r>
                        <a:t>Limits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Arial"/>
                        </a:rPr>
                        <a:t>Traditional DSS cannot autonomously coordinate responses across multiple operational domains.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marL="457200" indent="-457200" defTabSz="914400">
                        <a:buSzPct val="100000"/>
                        <a:buChar char="•"/>
                        <a:defRPr sz="4000" b="1">
                          <a:sym typeface="Arial"/>
                        </a:defRPr>
                      </a:pPr>
                      <a:r>
                        <a:t>Goal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Arial"/>
                        </a:rPr>
                        <a:t>One unified risk picture with appropriate automation for each decision type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8662">
                <a:tc>
                  <a:txBody>
                    <a:bodyPr/>
                    <a:lstStyle/>
                    <a:p>
                      <a:pPr marL="457200" indent="-457200" defTabSz="914400">
                        <a:buSzPct val="100000"/>
                        <a:buChar char="•"/>
                        <a:defRPr sz="4000" b="1">
                          <a:sym typeface="Arial"/>
                        </a:defRPr>
                      </a:pPr>
                      <a:r>
                        <a:t>System Name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4000">
                          <a:sym typeface="Arial"/>
                        </a:rPr>
                        <a:t>Multi-Agent Risk Decision Intelligence Hub (DIH)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Logistics Scenario: Multi-Agent Risk Decision Intelligence Hu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z="6400" spc="-64"/>
            </a:lvl1pPr>
          </a:lstStyle>
          <a:p>
            <a:r>
              <a:t>Logistics Scenario: Multi-Agent Risk Decision Intelligence Hub</a:t>
            </a:r>
          </a:p>
        </p:txBody>
      </p:sp>
      <p:sp>
        <p:nvSpPr>
          <p:cNvPr id="245" name="Risk Detection Proces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Risk Detection Process</a:t>
            </a:r>
          </a:p>
        </p:txBody>
      </p:sp>
      <p:sp>
        <p:nvSpPr>
          <p:cNvPr id="246" name="In this scenario, multi-agent system can:…"/>
          <p:cNvSpPr txBox="1">
            <a:spLocks noGrp="1"/>
          </p:cNvSpPr>
          <p:nvPr>
            <p:ph type="body" sz="half" idx="1"/>
          </p:nvPr>
        </p:nvSpPr>
        <p:spPr>
          <a:xfrm>
            <a:off x="1206500" y="4260642"/>
            <a:ext cx="11319815" cy="8256012"/>
          </a:xfrm>
          <a:prstGeom prst="rect">
            <a:avLst/>
          </a:prstGeom>
        </p:spPr>
        <p:txBody>
          <a:bodyPr/>
          <a:lstStyle/>
          <a:p>
            <a:r>
              <a:t>In this scenario, multi-agent system can:</a:t>
            </a:r>
          </a:p>
          <a:p>
            <a:pPr marL="1397000" lvl="1" indent="-698500">
              <a:buAutoNum type="arabicPeriod"/>
            </a:pPr>
            <a:r>
              <a:t>Detect Risks (Tariff, regulatory, financial, weather, human operational errors…)</a:t>
            </a:r>
          </a:p>
          <a:p>
            <a:pPr marL="1397000" lvl="1" indent="-698500">
              <a:buAutoNum type="arabicPeriod"/>
            </a:pPr>
            <a:r>
              <a:t>Prioritize Actions ()</a:t>
            </a:r>
          </a:p>
          <a:p>
            <a:pPr marL="1397000" lvl="1" indent="-698500">
              <a:buAutoNum type="arabicPeriod"/>
            </a:pPr>
            <a:r>
              <a:t>Support Decisions</a:t>
            </a:r>
          </a:p>
        </p:txBody>
      </p:sp>
      <p:pic>
        <p:nvPicPr>
          <p:cNvPr id="247" name="7.png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9089" y="3483274"/>
            <a:ext cx="12336232" cy="85320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Logistics Scenario: Multi-Agent Risk Decision Intelligence Hu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z="6400" spc="-64"/>
            </a:lvl1pPr>
          </a:lstStyle>
          <a:p>
            <a:r>
              <a:t>Logistics Scenario: Multi-Agent Risk Decision Intelligence Hub</a:t>
            </a:r>
          </a:p>
        </p:txBody>
      </p:sp>
      <p:sp>
        <p:nvSpPr>
          <p:cNvPr id="250" name="DIH: The 8 Agent Team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DIH: The 8 Agent Teams</a:t>
            </a:r>
          </a:p>
        </p:txBody>
      </p:sp>
      <p:pic>
        <p:nvPicPr>
          <p:cNvPr id="252" name="8.png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1175"/>
            <a:ext cx="24384001" cy="29168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Logistics Scenario: Multi-Agent Risk Decision Intelligence Hu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560536">
              <a:defRPr sz="6400" spc="-64"/>
            </a:lvl1pPr>
          </a:lstStyle>
          <a:p>
            <a:r>
              <a:t>Logistics Scenario: Multi-Agent Risk Decision Intelligence Hub</a:t>
            </a:r>
          </a:p>
        </p:txBody>
      </p:sp>
      <p:sp>
        <p:nvSpPr>
          <p:cNvPr id="255" name="The 4-Layer Context Architectur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 defTabSz="825500">
              <a:defRPr sz="5500"/>
            </a:lvl1pPr>
          </a:lstStyle>
          <a:p>
            <a:r>
              <a:t>The 4-Layer Context Architecture</a:t>
            </a:r>
          </a:p>
        </p:txBody>
      </p:sp>
      <p:pic>
        <p:nvPicPr>
          <p:cNvPr id="257" name="9.png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1080" y="2795262"/>
            <a:ext cx="3947388" cy="99590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Expected Outcom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Expected Outcomes</a:t>
            </a:r>
          </a:p>
        </p:txBody>
      </p:sp>
      <p:sp>
        <p:nvSpPr>
          <p:cNvPr id="261" name="Conceptual Framework of Agentic DSS in logistic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98500" indent="-698500">
              <a:buAutoNum type="arabicPeriod"/>
            </a:pPr>
            <a:r>
              <a:t>Conceptual Framework of Agentic DSS in logistics</a:t>
            </a:r>
          </a:p>
          <a:p>
            <a:pPr marL="698500" indent="-698500">
              <a:buAutoNum type="arabicPeriod"/>
            </a:pPr>
            <a:r>
              <a:t>An architecture blueprint and PoC Prototype</a:t>
            </a:r>
          </a:p>
          <a:p>
            <a:pPr marL="698500" indent="-698500">
              <a:buAutoNum type="arabicPeriod"/>
            </a:pPr>
            <a:r>
              <a:t>Strategic Insights for logistics decision systems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oC Implementation: Claude Code Stack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40805">
              <a:defRPr sz="9600" spc="-96"/>
            </a:lvl1pPr>
          </a:lstStyle>
          <a:p>
            <a:r>
              <a:t>PoC Implementation: Claude Code Stack</a:t>
            </a:r>
          </a:p>
        </p:txBody>
      </p:sp>
      <p:sp>
        <p:nvSpPr>
          <p:cNvPr id="265" name="Claude Code’s primitives map directly onto the DIH architectur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0"/>
              </a:spcBef>
              <a:buSzTx/>
              <a:buNone/>
            </a:pPr>
            <a:r>
              <a:t>Claude Code’s primitives map directly onto the DIH architecture</a:t>
            </a:r>
          </a:p>
          <a:p>
            <a:pPr lvl="1">
              <a:spcBef>
                <a:spcPts val="2000"/>
              </a:spcBef>
            </a:pPr>
            <a:r>
              <a:rPr b="1"/>
              <a:t>Sub-agents:</a:t>
            </a:r>
            <a:r>
              <a:t> one Claude Code sub-agent per DIH team</a:t>
            </a:r>
          </a:p>
          <a:p>
            <a:pPr lvl="1">
              <a:spcBef>
                <a:spcPts val="2000"/>
              </a:spcBef>
            </a:pPr>
            <a:r>
              <a:rPr b="1"/>
              <a:t>Skills:</a:t>
            </a:r>
            <a:r>
              <a:t> reusable workflows (e.g., classify-tariff-event, draft-customer-apolopgy)</a:t>
            </a:r>
          </a:p>
          <a:p>
            <a:pPr lvl="1">
              <a:spcBef>
                <a:spcPts val="2000"/>
              </a:spcBef>
              <a:defRPr b="1"/>
            </a:pPr>
            <a:r>
              <a:t>MCPs: </a:t>
            </a:r>
            <a:r>
              <a:rPr b="0"/>
              <a:t>Liveconnections to external systems (WMS, TMS, Weather API, Currency Feed)</a:t>
            </a:r>
          </a:p>
          <a:p>
            <a:pPr lvl="1">
              <a:spcBef>
                <a:spcPts val="2000"/>
              </a:spcBef>
              <a:defRPr b="1"/>
            </a:pPr>
            <a:r>
              <a:t>Plugins: </a:t>
            </a:r>
            <a:r>
              <a:rPr b="0"/>
              <a:t>Optional capability extensions</a:t>
            </a:r>
          </a:p>
          <a:p>
            <a:pPr lvl="1">
              <a:spcBef>
                <a:spcPts val="2000"/>
              </a:spcBef>
              <a:defRPr b="1"/>
            </a:pPr>
            <a:r>
              <a:t>Hooks:</a:t>
            </a:r>
            <a:r>
              <a:rPr b="0"/>
              <a:t> Safety enforcement before any autonomous action </a:t>
            </a:r>
          </a:p>
        </p:txBody>
      </p:sp>
      <p:pic>
        <p:nvPicPr>
          <p:cNvPr id="266" name="10.png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099" y="9084809"/>
            <a:ext cx="15417801" cy="4140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laude Code File Stru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Claude Code File Structure</a:t>
            </a:r>
          </a:p>
        </p:txBody>
      </p:sp>
      <p:pic>
        <p:nvPicPr>
          <p:cNvPr id="270" name="11.png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105" y="2359070"/>
            <a:ext cx="13452076" cy="107940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成组"/>
          <p:cNvGrpSpPr/>
          <p:nvPr/>
        </p:nvGrpSpPr>
        <p:grpSpPr>
          <a:xfrm>
            <a:off x="182609" y="1629958"/>
            <a:ext cx="24018781" cy="371015"/>
            <a:chOff x="0" y="0"/>
            <a:chExt cx="24018780" cy="371014"/>
          </a:xfrm>
        </p:grpSpPr>
        <p:sp>
          <p:nvSpPr>
            <p:cNvPr id="272" name="矩形"/>
            <p:cNvSpPr/>
            <p:nvPr/>
          </p:nvSpPr>
          <p:spPr>
            <a:xfrm>
              <a:off x="2481" y="0"/>
              <a:ext cx="24013818" cy="196418"/>
            </a:xfrm>
            <a:prstGeom prst="rect">
              <a:avLst/>
            </a:prstGeom>
            <a:solidFill>
              <a:srgbClr val="246DE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chemeClr val="accent1">
                      <a:satOff val="5092"/>
                      <a:lumOff val="-28652"/>
                    </a:schemeClr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endParaRPr/>
            </a:p>
          </p:txBody>
        </p:sp>
        <p:sp>
          <p:nvSpPr>
            <p:cNvPr id="273" name="矩形"/>
            <p:cNvSpPr/>
            <p:nvPr/>
          </p:nvSpPr>
          <p:spPr>
            <a:xfrm>
              <a:off x="0" y="276797"/>
              <a:ext cx="24018781" cy="94218"/>
            </a:xfrm>
            <a:prstGeom prst="rect">
              <a:avLst/>
            </a:prstGeom>
            <a:solidFill>
              <a:srgbClr val="246DEA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chemeClr val="accent1">
                      <a:satOff val="5092"/>
                      <a:lumOff val="-28652"/>
                    </a:schemeClr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endParaRPr/>
            </a:p>
          </p:txBody>
        </p:sp>
      </p:grpSp>
      <p:sp>
        <p:nvSpPr>
          <p:cNvPr id="275" name="Q &amp; A"/>
          <p:cNvSpPr txBox="1"/>
          <p:nvPr/>
        </p:nvSpPr>
        <p:spPr>
          <a:xfrm>
            <a:off x="9425185" y="5675610"/>
            <a:ext cx="5533630" cy="236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Q &amp; A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7_MinimalistDark">
  <a:themeElements>
    <a:clrScheme name="37_MinimalistDark">
      <a:dk1>
        <a:srgbClr val="000000"/>
      </a:dk1>
      <a:lt1>
        <a:srgbClr val="4B6079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7_MinimalistDark">
  <a:themeElements>
    <a:clrScheme name="37_MinimalistDark">
      <a:dk1>
        <a:srgbClr val="000000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Macintosh PowerPoint</Application>
  <PresentationFormat>Custom</PresentationFormat>
  <Paragraphs>148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PingFang SC Medium</vt:lpstr>
      <vt:lpstr>PingFang SC Regular</vt:lpstr>
      <vt:lpstr>Arial</vt:lpstr>
      <vt:lpstr>Avenir Next Regular</vt:lpstr>
      <vt:lpstr>Helvetica Neue</vt:lpstr>
      <vt:lpstr>Lucida Grande</vt:lpstr>
      <vt:lpstr>Produkt Extralight</vt:lpstr>
      <vt:lpstr>Produkt Light</vt:lpstr>
      <vt:lpstr>37_MinimalistDark</vt:lpstr>
      <vt:lpstr>From Classic to Agentic DSS: A Conceptual Model for Autonomous Decision-Making in Logistics</vt:lpstr>
      <vt:lpstr>Response to Comments</vt:lpstr>
      <vt:lpstr>Research Objectives</vt:lpstr>
      <vt:lpstr>Research Schedule</vt:lpstr>
      <vt:lpstr>Limitations of Traditional DSS</vt:lpstr>
      <vt:lpstr>What are AI Agents?</vt:lpstr>
      <vt:lpstr>Tool-Use Loop</vt:lpstr>
      <vt:lpstr>Tool-Use Loop</vt:lpstr>
      <vt:lpstr>Runtime Architecture</vt:lpstr>
      <vt:lpstr>Context Engineering</vt:lpstr>
      <vt:lpstr>Context Engineering</vt:lpstr>
      <vt:lpstr>Single-agent Architecture</vt:lpstr>
      <vt:lpstr>Multi-agent Architecture</vt:lpstr>
      <vt:lpstr>Proposed Architecture of Agentic DSS in Logistics</vt:lpstr>
      <vt:lpstr>Logistics Scenario: Multi-Agent Risk Decision Intelligence Hub</vt:lpstr>
      <vt:lpstr>Logistics Scenario: Multi-Agent Risk Decision Intelligence Hub</vt:lpstr>
      <vt:lpstr>Logistics Scenario: Multi-Agent Risk Decision Intelligence Hub</vt:lpstr>
      <vt:lpstr>Logistics Scenario: Multi-Agent Risk Decision Intelligence Hub</vt:lpstr>
      <vt:lpstr>Expected Outcomes</vt:lpstr>
      <vt:lpstr>PoC Implementation: Claude Code Stack</vt:lpstr>
      <vt:lpstr>Claude Code File Structure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NGUYEN HUU PHUC</cp:lastModifiedBy>
  <cp:revision>2</cp:revision>
  <dcterms:modified xsi:type="dcterms:W3CDTF">2026-05-26T05:10:27Z</dcterms:modified>
</cp:coreProperties>
</file>